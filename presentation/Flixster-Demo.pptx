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0:45. Lead with the PROBLEM (deciding what to watch tonight), then the stack: React+Vite, TMDb + OpenRouter. Don't read the slide. End by switching to the live app. ~90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2:45 — THE MAIN EVENT. Talk WHILE you click; follow the order. Go slow on the AI insight + trailer (4) and sidebar (6). If the AI is rate-limited: 'the free model is busy, so instead of breaking it shows a friendly fallback — I built that on purpose.' Wrap by 3:30.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0:45 — OPTIONAL, cut if behind. Your 'I'm a real engineer' slide: lift-state-up, tokens enabling the theme, defensive engineering. ~100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0:40. The defensible depth slide. SAY: 'Favorites is the piece of state everything else touches. If I'd mutated it with prev.add(id), React compares by reference, sees the same Set, and skips the re-render — UI goes stale. So I build a NEW Set, toggle the id, return it: new identity, guaranteed re-render. And the prev =&gt; … form always reads the latest state.' LIKELY Qs: (1) why new Set not prev.add? → reference compare / Object.is. (2) why functional updater? → avoids stale closure on rapid toggles. (3) why Set not array? → O(1) has/add/delete, no duplicates.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0:45. End on Next Steps energy. Favorite = AI insight. Challenging = interacting state / bugs in the seams (ties to the code slide!). Land the last line, eye contact, stop. 'Thanks — happy to take questions!'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035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>
                <a:solidFill>
                  <a:srgbClr val="F5F3EE"/>
                </a:solidFill>
                <a:latin typeface="Poppins"/>
              </a:rPr>
              <a:t>🎬 Flix</a:t>
            </a:r>
            <a:r>
              <a:rPr sz="5400" b="1">
                <a:solidFill>
                  <a:srgbClr val="EAE0CF"/>
                </a:solidFill>
                <a:latin typeface="Poppins"/>
              </a:rPr>
              <a:t>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31720"/>
            <a:ext cx="1280160" cy="762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6032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C9D3E6"/>
                </a:solidFill>
                <a:latin typeface="Inter"/>
              </a:rPr>
              <a:t>by David Gonzalez-Cesar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5669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F5F3EE"/>
                </a:solidFill>
                <a:latin typeface="Inter"/>
              </a:rPr>
              <a:t>A movie </a:t>
            </a:r>
            <a:r>
              <a:rPr sz="2000" b="1">
                <a:solidFill>
                  <a:srgbClr val="EAE0CF"/>
                </a:solidFill>
                <a:latin typeface="Inter"/>
              </a:rPr>
              <a:t>discovery</a:t>
            </a:r>
            <a:r>
              <a:rPr sz="2000" b="0">
                <a:solidFill>
                  <a:srgbClr val="F5F3EE"/>
                </a:solidFill>
                <a:latin typeface="Inter"/>
              </a:rPr>
              <a:t> app — decide what to see in theaters tonight. It pulls what's now playing from The Movie Database, lets you search and sort, and gives an AI </a:t>
            </a:r>
            <a:r>
              <a:rPr sz="2000" b="1">
                <a:solidFill>
                  <a:srgbClr val="EAE0CF"/>
                </a:solidFill>
                <a:latin typeface="Inter"/>
              </a:rPr>
              <a:t>“Worth seeing?”</a:t>
            </a:r>
            <a:r>
              <a:rPr sz="2000" b="0">
                <a:solidFill>
                  <a:srgbClr val="F5F3EE"/>
                </a:solidFill>
                <a:latin typeface="Inter"/>
              </a:rPr>
              <a:t> take on every film.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7288AE"/>
                </a:solidFill>
                <a:latin typeface="Inter"/>
              </a:rPr>
              <a:t>React + Vite · TMDb + OpenRouter · running locally (npm run dev)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280160"/>
            <a:ext cx="4114800" cy="4206240"/>
          </a:xfrm>
          <a:prstGeom prst="roundRect">
            <a:avLst>
              <a:gd name="adj" fmla="val 5000"/>
            </a:avLst>
          </a:prstGeom>
          <a:solidFill>
            <a:srgbClr val="0A0E2A"/>
          </a:solidFill>
          <a:ln w="12700">
            <a:solidFill>
              <a:srgbClr val="4B5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0175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7288AE"/>
                </a:solidFill>
                <a:latin typeface="Inter"/>
              </a:rPr>
              <a:t>▶  paste an app screenshot 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5F3EE"/>
                </a:solidFill>
                <a:latin typeface="Poppins"/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280160" cy="762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1  Now Playing grid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featured movie + responsive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2  Search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any title — TMDb search 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25496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3  Sort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rating / title / release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92424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4  Movie modal  ⭐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2nd API call + AI “Worth seeing?” + trailer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59352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5  Favorite ♥ / Watched 👁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mark + visually flag movies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6  Sidebar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Your Lists + filter the 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93208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AE0CF"/>
                </a:solidFill>
                <a:latin typeface="Inter"/>
              </a:rPr>
              <a:t>7  Light / dark theme  —  </a:t>
            </a:r>
            <a:r>
              <a:rPr sz="1600" b="0">
                <a:solidFill>
                  <a:srgbClr val="C9D3E6"/>
                </a:solidFill>
                <a:latin typeface="Inter"/>
              </a:rPr>
              <a:t>frosted-glass, remembers choice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691640"/>
            <a:ext cx="4114800" cy="4023360"/>
          </a:xfrm>
          <a:prstGeom prst="roundRect">
            <a:avLst>
              <a:gd name="adj" fmla="val 5000"/>
            </a:avLst>
          </a:prstGeom>
          <a:solidFill>
            <a:srgbClr val="0A0E2A"/>
          </a:solidFill>
          <a:ln w="12700">
            <a:solidFill>
              <a:srgbClr val="4B5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38328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7288AE"/>
                </a:solidFill>
                <a:latin typeface="Inter"/>
              </a:rPr>
              <a:t>fallback screenshot
(if the live demo breaks)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5F3EE"/>
                </a:solidFill>
                <a:latin typeface="Poppins"/>
              </a:rPr>
              <a:t>Under the Hood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280160" cy="762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9600"/>
            <a:ext cx="127000" cy="127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EAE0CF"/>
                </a:solidFill>
                <a:latin typeface="Inter"/>
              </a:rPr>
              <a:t>React + Vite  —  </a:t>
            </a:r>
            <a:r>
              <a:rPr sz="1800" b="0">
                <a:solidFill>
                  <a:srgbClr val="C9D3E6"/>
                </a:solidFill>
                <a:latin typeface="Inter"/>
              </a:rPr>
              <a:t>one App owns shared state; children are presentational (lift state 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39720"/>
            <a:ext cx="127000" cy="127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EAE0CF"/>
                </a:solidFill>
                <a:latin typeface="Inter"/>
              </a:rPr>
              <a:t>Two external APIs  —  </a:t>
            </a:r>
            <a:r>
              <a:rPr sz="1800" b="0">
                <a:solidFill>
                  <a:srgbClr val="C9D3E6"/>
                </a:solidFill>
                <a:latin typeface="Inter"/>
              </a:rPr>
              <a:t>TMDb for movies + OpenRouter for the AI “Worth seeing?” 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99840"/>
            <a:ext cx="127000" cy="127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74904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EAE0CF"/>
                </a:solidFill>
                <a:latin typeface="Inter"/>
              </a:rPr>
              <a:t>CSS design tokens  —  </a:t>
            </a:r>
            <a:r>
              <a:rPr sz="1800" b="0">
                <a:solidFill>
                  <a:srgbClr val="C9D3E6"/>
                </a:solidFill>
                <a:latin typeface="Inter"/>
              </a:rPr>
              <a:t>every color/space is a variable → a full light &amp; dark theme in one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759960"/>
            <a:ext cx="127000" cy="127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EAE0CF"/>
                </a:solidFill>
                <a:latin typeface="Inter"/>
              </a:rPr>
              <a:t>Resilient by design  —  </a:t>
            </a:r>
            <a:r>
              <a:rPr sz="1800" b="0">
                <a:solidFill>
                  <a:srgbClr val="C9D3E6"/>
                </a:solidFill>
                <a:latin typeface="Inter"/>
              </a:rPr>
              <a:t>AI falls back gracefully; adversarial code review caught real bugs — event bubbling, an async race, keyboard accessibility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5F3EE"/>
                </a:solidFill>
                <a:latin typeface="Poppins"/>
              </a:rPr>
              <a:t>Code spotlight: immutable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280160" cy="762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Inter"/>
              </a:rPr>
              <a:t>The bug I had to avoid in the “seams”: mutating React state in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6949440" cy="3383280"/>
          </a:xfrm>
          <a:prstGeom prst="roundRect">
            <a:avLst>
              <a:gd name="adj" fmla="val 5000"/>
            </a:avLst>
          </a:prstGeom>
          <a:solidFill>
            <a:srgbClr val="0A0E2A"/>
          </a:solidFill>
          <a:ln w="12700">
            <a:solidFill>
              <a:srgbClr val="4B5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18288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const toggleFavorite = (id) =&gt; {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setFavorites((prev) =&gt; {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  const next = new Set(prev)  </a:t>
            </a:r>
            <a:r>
              <a:rPr sz="1500" i="1">
                <a:solidFill>
                  <a:srgbClr val="828EB0"/>
                </a:solidFill>
                <a:latin typeface="Consolas"/>
              </a:rPr>
              <a:t>// NEW Set → new identity → re-render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  if (next.has(id)) next.delete(id)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  else next.add(id)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  return next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  })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500" i="0">
                <a:solidFill>
                  <a:srgbClr val="DDE7C8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148840"/>
            <a:ext cx="3474720" cy="3383280"/>
          </a:xfrm>
          <a:prstGeom prst="roundRect">
            <a:avLst>
              <a:gd name="adj" fmla="val 5000"/>
            </a:avLst>
          </a:prstGeom>
          <a:solidFill>
            <a:srgbClr val="262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1200"/>
              </a:spcAft>
            </a:pPr>
            <a:r>
              <a:rPr sz="1800" b="1">
                <a:solidFill>
                  <a:srgbClr val="EAE0CF"/>
                </a:solidFill>
                <a:latin typeface="Poppins"/>
              </a:rPr>
              <a:t>Why it matters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F5F3EE"/>
                </a:solidFill>
                <a:latin typeface="Inter"/>
              </a:rPr>
              <a:t>React compares state by reference. Mutating the old Set keeps the same identity → React skips the re-render → the star toggles in memory but the UI goes stale.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F5F3EE"/>
                </a:solidFill>
                <a:latin typeface="Inter"/>
              </a:rPr>
              <a:t>So I copy → toggle → return a new Set. New reference = guaranteed re-render.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F5F3EE"/>
                </a:solidFill>
                <a:latin typeface="Inter"/>
              </a:rPr>
              <a:t>The prev =&gt; … updater always reads the latest state, never a stale closure.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7288AE"/>
                </a:solidFill>
                <a:latin typeface="Inter"/>
              </a:rPr>
              <a:t>Favorites is the state filter, search, and sort all read — immutable updates kept it from desyncing while everything re-rendered around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5F3EE"/>
                </a:solidFill>
                <a:latin typeface="Poppins"/>
              </a:rPr>
              <a:t>Reflection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280160" cy="76200"/>
          </a:xfrm>
          <a:prstGeom prst="rect">
            <a:avLst/>
          </a:prstGeom>
          <a:solidFill>
            <a:srgbClr val="EA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262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56032"/>
          <a:lstStyle/>
          <a:p>
            <a:pPr algn="ctr">
              <a:spcAft>
                <a:spcPts val="1400"/>
              </a:spcAft>
            </a:pPr>
            <a:r>
              <a:rPr sz="2000" b="1">
                <a:solidFill>
                  <a:srgbClr val="EAE0CF"/>
                </a:solidFill>
                <a:latin typeface="Poppins"/>
              </a:rPr>
              <a:t>⭐ Favorite Feature</a:t>
            </a:r>
          </a:p>
          <a:p>
            <a:pPr>
              <a:lnSpc>
                <a:spcPct val="118000"/>
              </a:lnSpc>
            </a:pPr>
            <a:r>
              <a:rPr sz="1500">
                <a:solidFill>
                  <a:srgbClr val="F5F3EE"/>
                </a:solidFill>
                <a:latin typeface="Inter"/>
              </a:rPr>
              <a:t>The AI “Worth seeing?” insight — it makes this a discovery tool, not just a list. Taught me to handle async AI calls with loading + fallback states.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90288" y="182880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21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56032"/>
          <a:lstStyle/>
          <a:p>
            <a:pPr algn="ctr">
              <a:spcAft>
                <a:spcPts val="1400"/>
              </a:spcAft>
            </a:pPr>
            <a:r>
              <a:rPr sz="2000" b="1">
                <a:solidFill>
                  <a:srgbClr val="EAE0CF"/>
                </a:solidFill>
                <a:latin typeface="Poppins"/>
              </a:rPr>
              <a:t>🧗 Most Challenging</a:t>
            </a:r>
          </a:p>
          <a:p>
            <a:pPr>
              <a:lnSpc>
                <a:spcPct val="118000"/>
              </a:lnSpc>
            </a:pPr>
            <a:r>
              <a:rPr sz="1500">
                <a:solidFill>
                  <a:srgbClr val="F5F3EE"/>
                </a:solidFill>
                <a:latin typeface="Inter"/>
              </a:rPr>
              <a:t>State that interacts — favorites, filter, search &amp; sort all touch each other. Bugs hid in the seams; a review found 11 issues in the sidebar alone (an async race, keyboard focus traps).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03336" y="182880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4A4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56032"/>
          <a:lstStyle/>
          <a:p>
            <a:pPr algn="ctr">
              <a:spcAft>
                <a:spcPts val="1400"/>
              </a:spcAft>
            </a:pPr>
            <a:r>
              <a:rPr sz="2000" b="1">
                <a:solidFill>
                  <a:srgbClr val="EAE0CF"/>
                </a:solidFill>
                <a:latin typeface="Poppins"/>
              </a:rPr>
              <a:t>🚀 Next Steps</a:t>
            </a:r>
          </a:p>
          <a:p>
            <a:pPr>
              <a:lnSpc>
                <a:spcPct val="118000"/>
              </a:lnSpc>
            </a:pPr>
            <a:r>
              <a:rPr sz="1500">
                <a:solidFill>
                  <a:srgbClr val="F5F3EE"/>
                </a:solidFill>
                <a:latin typeface="Inter"/>
              </a:rPr>
              <a:t>Deploy to Render for a live link · persist favorites in localStorage so they survive a reload · add user accounts / saved lists.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