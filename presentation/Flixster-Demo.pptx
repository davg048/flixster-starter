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0:45. Lead with the PROBLEM (deciding what to watch tonight), then the stack: React+Vite, TMDb + OpenRouter. Don't read the slide. End by switching to the live app. ~90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2:45 — THE MAIN EVENT. Talk WHILE you click; follow the numbered order. Go slow on the AI insight (4) and sidebar (6) — your standouts. If the AI is rate-limited: 'the free model is busy, so instead of breaking it shows a friendly fallback — I built that on purpose.' Wrap by 3:30.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0:45 — OPTIONAL, cut if behind. Your 'I'm a real engineer' slide: lift-state-up, tokens enabling the theme, defensive engineering. ~100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0:45. End on Next Steps energy — shows you think like a builder. Favorite = AI insight. Challenging = interacting state / bugs in the seams. Land the last line, eye contact, stop. ~95 words. 'Thanks — happy to take questions!'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035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>
                <a:solidFill>
                  <a:srgbClr val="F5F3EE"/>
                </a:solidFill>
                <a:latin typeface="Poppins"/>
              </a:rPr>
              <a:t>🎬 Flix</a:t>
            </a:r>
            <a:r>
              <a:rPr sz="5400" b="1">
                <a:solidFill>
                  <a:srgbClr val="EAE0CF"/>
                </a:solidFill>
                <a:latin typeface="Poppins"/>
              </a:rPr>
              <a:t>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1280160" cy="76200"/>
          </a:xfrm>
          <a:prstGeom prst="rect">
            <a:avLst/>
          </a:prstGeom>
          <a:solidFill>
            <a:srgbClr val="EA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C9D3E6"/>
                </a:solidFill>
                <a:latin typeface="Inter"/>
              </a:rPr>
              <a:t>by David Gonzalez-Cesar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5669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F5F3EE"/>
                </a:solidFill>
                <a:latin typeface="Inter"/>
              </a:rPr>
              <a:t>A movie </a:t>
            </a:r>
            <a:r>
              <a:rPr sz="2000" b="1">
                <a:solidFill>
                  <a:srgbClr val="EAE0CF"/>
                </a:solidFill>
                <a:latin typeface="Inter"/>
              </a:rPr>
              <a:t>discovery</a:t>
            </a:r>
            <a:r>
              <a:rPr sz="2000" b="0">
                <a:solidFill>
                  <a:srgbClr val="F5F3EE"/>
                </a:solidFill>
                <a:latin typeface="Inter"/>
              </a:rPr>
              <a:t> app — decide what to see in theaters tonight. It pulls what's now playing from The Movie Database, lets you search and sort, and gives an AI </a:t>
            </a:r>
            <a:r>
              <a:rPr sz="2000" b="1">
                <a:solidFill>
                  <a:srgbClr val="EAE0CF"/>
                </a:solidFill>
                <a:latin typeface="Inter"/>
              </a:rPr>
              <a:t>“Worth seeing?”</a:t>
            </a:r>
            <a:r>
              <a:rPr sz="2000" b="0">
                <a:solidFill>
                  <a:srgbClr val="F5F3EE"/>
                </a:solidFill>
                <a:latin typeface="Inter"/>
              </a:rPr>
              <a:t> take on every film.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7288AE"/>
                </a:solidFill>
                <a:latin typeface="Inter"/>
              </a:rPr>
              <a:t>React + Vite · TMDb + OpenRouter · running locally (npm run dev)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280160"/>
            <a:ext cx="4114800" cy="4206240"/>
          </a:xfrm>
          <a:prstGeom prst="roundRect">
            <a:avLst>
              <a:gd name="adj" fmla="val 6000"/>
            </a:avLst>
          </a:prstGeom>
          <a:solidFill>
            <a:srgbClr val="0A0E2A"/>
          </a:solidFill>
          <a:ln w="12700">
            <a:solidFill>
              <a:srgbClr val="4B5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301752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7288AE"/>
                </a:solidFill>
                <a:latin typeface="Inter"/>
              </a:rPr>
              <a:t>▶  paste an app screenshot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5F3EE"/>
                </a:solidFill>
                <a:latin typeface="Poppin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1280160" cy="76200"/>
          </a:xfrm>
          <a:prstGeom prst="rect">
            <a:avLst/>
          </a:prstGeom>
          <a:solidFill>
            <a:srgbClr val="EA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6035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EAE0CF"/>
                </a:solidFill>
                <a:latin typeface="Inter"/>
              </a:rPr>
              <a:t>1  Now Playing grid  —  </a:t>
            </a:r>
            <a:r>
              <a:rPr sz="1600" b="0">
                <a:solidFill>
                  <a:srgbClr val="C9D3E6"/>
                </a:solidFill>
                <a:latin typeface="Inter"/>
              </a:rPr>
              <a:t>featured movie + responsive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58568"/>
            <a:ext cx="6035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EAE0CF"/>
                </a:solidFill>
                <a:latin typeface="Inter"/>
              </a:rPr>
              <a:t>2  Search  —  </a:t>
            </a:r>
            <a:r>
              <a:rPr sz="1600" b="0">
                <a:solidFill>
                  <a:srgbClr val="C9D3E6"/>
                </a:solidFill>
                <a:latin typeface="Inter"/>
              </a:rPr>
              <a:t>any title — TMDb search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25496"/>
            <a:ext cx="6035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EAE0CF"/>
                </a:solidFill>
                <a:latin typeface="Inter"/>
              </a:rPr>
              <a:t>3  Sort  —  </a:t>
            </a:r>
            <a:r>
              <a:rPr sz="1600" b="0">
                <a:solidFill>
                  <a:srgbClr val="C9D3E6"/>
                </a:solidFill>
                <a:latin typeface="Inter"/>
              </a:rPr>
              <a:t>rating / title / release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92424"/>
            <a:ext cx="6035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EAE0CF"/>
                </a:solidFill>
                <a:latin typeface="Inter"/>
              </a:rPr>
              <a:t>4  Movie modal  ⭐  —  </a:t>
            </a:r>
            <a:r>
              <a:rPr sz="1600" b="0">
                <a:solidFill>
                  <a:srgbClr val="C9D3E6"/>
                </a:solidFill>
                <a:latin typeface="Inter"/>
              </a:rPr>
              <a:t>2nd API call + AI “Worth seeing?”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59352"/>
            <a:ext cx="6035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EAE0CF"/>
                </a:solidFill>
                <a:latin typeface="Inter"/>
              </a:rPr>
              <a:t>5  Favorite ♥ / Watched 👁  —  </a:t>
            </a:r>
            <a:r>
              <a:rPr sz="1600" b="0">
                <a:solidFill>
                  <a:srgbClr val="C9D3E6"/>
                </a:solidFill>
                <a:latin typeface="Inter"/>
              </a:rPr>
              <a:t>mark + visually flag movies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6035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EAE0CF"/>
                </a:solidFill>
                <a:latin typeface="Inter"/>
              </a:rPr>
              <a:t>6  Sidebar  —  </a:t>
            </a:r>
            <a:r>
              <a:rPr sz="1600" b="0">
                <a:solidFill>
                  <a:srgbClr val="C9D3E6"/>
                </a:solidFill>
                <a:latin typeface="Inter"/>
              </a:rPr>
              <a:t>Your Lists + filter the 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93208"/>
            <a:ext cx="6035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EAE0CF"/>
                </a:solidFill>
                <a:latin typeface="Inter"/>
              </a:rPr>
              <a:t>7  Light / dark theme  —  </a:t>
            </a:r>
            <a:r>
              <a:rPr sz="1600" b="0">
                <a:solidFill>
                  <a:srgbClr val="C9D3E6"/>
                </a:solidFill>
                <a:latin typeface="Inter"/>
              </a:rPr>
              <a:t>frosted-glass, remembers choice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691640"/>
            <a:ext cx="4114800" cy="4023360"/>
          </a:xfrm>
          <a:prstGeom prst="roundRect">
            <a:avLst>
              <a:gd name="adj" fmla="val 6000"/>
            </a:avLst>
          </a:prstGeom>
          <a:solidFill>
            <a:srgbClr val="0A0E2A"/>
          </a:solidFill>
          <a:ln w="12700">
            <a:solidFill>
              <a:srgbClr val="4B5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38328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7288AE"/>
                </a:solidFill>
                <a:latin typeface="Inter"/>
              </a:rPr>
              <a:t>fallback screenshot
(if the live demo breaks)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5F3EE"/>
                </a:solidFill>
                <a:latin typeface="Poppins"/>
              </a:rPr>
              <a:t>Under the Hood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1280160" cy="76200"/>
          </a:xfrm>
          <a:prstGeom prst="rect">
            <a:avLst/>
          </a:prstGeom>
          <a:solidFill>
            <a:srgbClr val="EA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879600"/>
            <a:ext cx="127000" cy="127000"/>
          </a:xfrm>
          <a:prstGeom prst="rect">
            <a:avLst/>
          </a:prstGeom>
          <a:solidFill>
            <a:srgbClr val="EA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EAE0CF"/>
                </a:solidFill>
                <a:latin typeface="Inter"/>
              </a:rPr>
              <a:t>React + Vite  —  </a:t>
            </a:r>
            <a:r>
              <a:rPr sz="1800" b="0">
                <a:solidFill>
                  <a:srgbClr val="C9D3E6"/>
                </a:solidFill>
                <a:latin typeface="Inter"/>
              </a:rPr>
              <a:t>one App owns shared state; children are presentational (lift state 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39720"/>
            <a:ext cx="127000" cy="127000"/>
          </a:xfrm>
          <a:prstGeom prst="rect">
            <a:avLst/>
          </a:prstGeom>
          <a:solidFill>
            <a:srgbClr val="EA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EAE0CF"/>
                </a:solidFill>
                <a:latin typeface="Inter"/>
              </a:rPr>
              <a:t>Two external APIs  —  </a:t>
            </a:r>
            <a:r>
              <a:rPr sz="1800" b="0">
                <a:solidFill>
                  <a:srgbClr val="C9D3E6"/>
                </a:solidFill>
                <a:latin typeface="Inter"/>
              </a:rPr>
              <a:t>TMDb for movie data + OpenRouter for the AI “Worth seeing?” take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99840"/>
            <a:ext cx="127000" cy="127000"/>
          </a:xfrm>
          <a:prstGeom prst="rect">
            <a:avLst/>
          </a:prstGeom>
          <a:solidFill>
            <a:srgbClr val="EA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4904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EAE0CF"/>
                </a:solidFill>
                <a:latin typeface="Inter"/>
              </a:rPr>
              <a:t>CSS design tokens  —  </a:t>
            </a:r>
            <a:r>
              <a:rPr sz="1800" b="0">
                <a:solidFill>
                  <a:srgbClr val="C9D3E6"/>
                </a:solidFill>
                <a:latin typeface="Inter"/>
              </a:rPr>
              <a:t>every color/space is a variable → a full light &amp; dark theme in one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759960"/>
            <a:ext cx="127000" cy="127000"/>
          </a:xfrm>
          <a:prstGeom prst="rect">
            <a:avLst/>
          </a:prstGeom>
          <a:solidFill>
            <a:srgbClr val="EA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7091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EAE0CF"/>
                </a:solidFill>
                <a:latin typeface="Inter"/>
              </a:rPr>
              <a:t>Resilient by design  —  </a:t>
            </a:r>
            <a:r>
              <a:rPr sz="1800" b="0">
                <a:solidFill>
                  <a:srgbClr val="C9D3E6"/>
                </a:solidFill>
                <a:latin typeface="Inter"/>
              </a:rPr>
              <a:t>AI degrades gracefully; adversarial code review caught real bugs — event bubbling, an async race, keyboard accessibility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5F3EE"/>
                </a:solidFill>
                <a:latin typeface="Poppins"/>
              </a:rPr>
              <a:t>Reflection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1280160" cy="76200"/>
          </a:xfrm>
          <a:prstGeom prst="rect">
            <a:avLst/>
          </a:prstGeom>
          <a:solidFill>
            <a:srgbClr val="EA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262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/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EAE0CF"/>
                </a:solidFill>
                <a:latin typeface="Poppins"/>
              </a:rPr>
              <a:t>⭐ Favorite Feature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F5F3EE"/>
                </a:solidFill>
                <a:latin typeface="Inter"/>
              </a:rPr>
              <a:t>The AI “Worth seeing?” insight — it makes this a discovery tool, not just a list. Taught me to handle async AI calls with loading + fallback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90288" y="182880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21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/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EAE0CF"/>
                </a:solidFill>
                <a:latin typeface="Poppins"/>
              </a:rPr>
              <a:t>🧗 Most Challenging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F5F3EE"/>
                </a:solidFill>
                <a:latin typeface="Inter"/>
              </a:rPr>
              <a:t>State that interacts — favorites, filter, search &amp; sort all touch each other. The bugs hid in the seams; a review found 11 issues in the sidebar alone (an async race, keyboard focus traps).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03336" y="182880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4A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/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EAE0CF"/>
                </a:solidFill>
                <a:latin typeface="Poppins"/>
              </a:rPr>
              <a:t>🚀 Next Steps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F5F3EE"/>
                </a:solidFill>
                <a:latin typeface="Inter"/>
              </a:rPr>
              <a:t>Deploy to Render for a live link · embed YouTube trailers in the modal · persist favorites in localStorage so they survive a reload.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